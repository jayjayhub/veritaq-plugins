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asking about their week, not by talking about AI. This deck only works if they recognise slide 2 as their own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Ask which of the three is worst for them. Their answer sets which demo you show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no migration, no new software to log into, no data leaving their machine unless they choose.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centrepiece slide. Walk it left to right, slowly. Land on 2 and 4 being both the biggest cost and the biggest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trust slide. If they take one thing away it is that every Claude step is followed by one of theirs.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plainly: your licence, your signature, your judgement. The tool is a capable junior who never signs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only remember one slide, make it this one. Offer to run it live on a real client during the health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internal cut-off is the idea worth selling here. Most practices track the statutory date and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over-claim here. Say plainly you are not their compliance adviser and encourage them to check with 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sells more than the feature slides. A professional trusts someone who names the limits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step 3: one client, not twenty. The most common way this fails is someone deciding to onboard their whole book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one question: which single step on the workflow, if it disappeared tomorrow, would make the biggest difference to your week? Their answer is the pilot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veritaq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 Accountant in a Box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practice, with the admin taken off your desk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small tax practices in Malaysia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did not train for this part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hours actually go in a small practice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207008"/>
          </a:xfrm>
          <a:prstGeom prst="roundRect">
            <a:avLst>
              <a:gd name="adj" fmla="val 6818"/>
            </a:avLst>
          </a:prstGeom>
          <a:solidFill>
            <a:srgbClr val="F4F7F9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57984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57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0299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documents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43230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email, three times, to eleven clients. Then checking who replied and what is still missing.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0881360" cy="1207008"/>
          </a:xfrm>
          <a:prstGeom prst="roundRect">
            <a:avLst>
              <a:gd name="adj" fmla="val 6818"/>
            </a:avLst>
          </a:prstGeom>
          <a:solidFill>
            <a:srgbClr val="F4F7F9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575304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75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34472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Re-typing figures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384962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statements, receipts, payroll. Numbers that already exist somewhere, keyed in again by hand.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881360" cy="1207008"/>
          </a:xfrm>
          <a:prstGeom prst="roundRect">
            <a:avLst>
              <a:gd name="adj" fmla="val 6818"/>
            </a:avLst>
          </a:prstGeom>
          <a:solidFill>
            <a:srgbClr val="F4F7F9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992624"/>
            <a:ext cx="548640" cy="54864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992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4864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it all in your head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37360" y="526694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client is ready, whose year end falls when, what is due in three weeks.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it is the work you are actually qualified to do.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new system to learn.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way of working, with help.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your folders, your clients, your judgement. What changes is that the repetitive half stops being yours to do by hand.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engagement, start to finish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seven steps for every client, every year</a:t>
            </a:r>
            <a:endParaRPr lang="en-US" sz="1700" dirty="0"/>
          </a:p>
        </p:txBody>
      </p:sp>
      <p:pic>
        <p:nvPicPr>
          <p:cNvPr id="4" name="Image 0" descr="/tmp/gfx/wf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965960"/>
            <a:ext cx="11393424" cy="24140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4F7F9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504748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 and 4 are where your week goes.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05840" y="54406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also the two that automate best, because they are repetitive rather than a matter of judgement.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in every loop. Nothing happens without you</a:t>
            </a:r>
            <a:endParaRPr lang="en-US" sz="1700" dirty="0"/>
          </a:p>
        </p:txBody>
      </p:sp>
      <p:pic>
        <p:nvPicPr>
          <p:cNvPr id="4" name="Image 0" descr="/tmp/gfx/wf_la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920240"/>
            <a:ext cx="11393424" cy="25054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93776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0F2033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509320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of yours is a review, not a first draft.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05840" y="54864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sent, filed or decided without you looking at it first.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line sits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more than any feature on the previous slides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657600"/>
          </a:xfrm>
          <a:prstGeom prst="roundRect">
            <a:avLst>
              <a:gd name="adj" fmla="val 2250"/>
            </a:avLst>
          </a:prstGeom>
          <a:solidFill>
            <a:srgbClr val="E8F5F5"/>
          </a:solidFill>
          <a:ln w="20320">
            <a:solidFill>
              <a:srgbClr val="0FA3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does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5840" y="260604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fills your client folders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what each client still owes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chasing emails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figures out of documents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computation and asks questions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every deadline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257800" cy="3657600"/>
          </a:xfrm>
          <a:prstGeom prst="roundRect">
            <a:avLst>
              <a:gd name="adj" fmla="val 2250"/>
            </a:avLst>
          </a:prstGeom>
          <a:solidFill>
            <a:srgbClr val="F4F7F9"/>
          </a:solidFill>
          <a:ln w="20320">
            <a:solidFill>
              <a:srgbClr val="4658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103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29400" y="260604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every figure is right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 treatment of every item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filing position you take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to your client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to LHDN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needs a second look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76072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0F203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576072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never decides a tax treatment. That is a design choice, not a limitation waiting to be fixed.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on a Tuesday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eleven clients for their year-end documents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429000"/>
          </a:xfrm>
          <a:prstGeom prst="roundRect">
            <a:avLst>
              <a:gd name="adj" fmla="val 2400"/>
            </a:avLst>
          </a:prstGeom>
          <a:solidFill>
            <a:srgbClr val="FBF3F2"/>
          </a:solidFill>
          <a:ln w="17780">
            <a:solidFill>
              <a:srgbClr val="E2B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84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file, work out what is missing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each email from scratch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recall who was chased last week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Repeat, eleven times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 morning, every week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57800" cy="3429000"/>
          </a:xfrm>
          <a:prstGeom prst="roundRect">
            <a:avLst>
              <a:gd name="adj" fmla="val 2400"/>
            </a:avLst>
          </a:prstGeom>
          <a:solidFill>
            <a:srgbClr val="E8F5F5"/>
          </a:solidFill>
          <a:ln w="20320">
            <a:solidFill>
              <a:srgbClr val="0F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084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29400" y="25603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hasn’t sent me their documents?”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back, with what each one owes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drafts written, firmer where overdue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 them, edit two, send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minutes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what to ask for because it knows what a Form C client owes, and what this client already sent.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Deadlines stop living in your head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date, worked out once and kept current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0391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24048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March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33832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20391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BE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53712" y="24048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1874520"/>
            <a:ext cx="33832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20391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11312" y="24048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33832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2735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96112" y="3639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months after year end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3108960"/>
            <a:ext cx="33832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32735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CP204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53712" y="3639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basis period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5280" y="3108960"/>
            <a:ext cx="33832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32735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11312" y="3639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after filing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F4F7F9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7548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at any time: “Who is due in the next month, and who is not ready?”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51663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also get the date that actually matters: when documents must be in hand to still file on time. Not the deadline itself, which only tells you when it is already too late.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client data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you should be asking, answered before you ask it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18470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stays on your computer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0" y="184708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folders live on your machine. Nothing is uploaded anywhere as a matter of course.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99232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8" name="Text 6"/>
          <p:cNvSpPr/>
          <p:nvPr/>
        </p:nvSpPr>
        <p:spPr>
          <a:xfrm>
            <a:off x="1298448" y="28986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every connection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0" y="289864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calendar are connected by you, one at a time, and switched off whenever you like.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0792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1298448" y="39502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sends itself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0" y="395020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email, every filing, every calendar entry waits for you to approve 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102352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4" name="Text 12"/>
          <p:cNvSpPr/>
          <p:nvPr/>
        </p:nvSpPr>
        <p:spPr>
          <a:xfrm>
            <a:off x="1298448" y="50017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never leave the folder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0" y="500176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messages ask for documents. They never mention what is in them.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MIA confidentiality obligations and the PDPA are yours to satisfy. This is built so that staying inside them is the default, not something you have to remember.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will not do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you hear this now than find out in week two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025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open email attachments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0" y="200253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sees that a file arrived and what it is called. You save it into the client folder yourself.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53512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081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file for you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308152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connection to MyTax or MITRS, and there will not be one. You submit.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32504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160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read bad handwriting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416052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scans and digital files work well. Photographs of crumpled receipts get flagged, not guessed.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111496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239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decide a treatment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3520" y="523951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drafts the computation and raises the questions. Every judgement stays yours.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on the previous slides, it does today.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 minutes to your first client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migration, no training course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0320" cy="2880360"/>
          </a:xfrm>
          <a:prstGeom prst="roundRect">
            <a:avLst>
              <a:gd name="adj" fmla="val 3214"/>
            </a:avLst>
          </a:prstGeom>
          <a:solidFill>
            <a:srgbClr val="F4F7F9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63347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346704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Claude desktop app, signed in with the account you already have.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560320" cy="2880360"/>
          </a:xfrm>
          <a:prstGeom prst="roundRect">
            <a:avLst>
              <a:gd name="adj" fmla="val 3214"/>
            </a:avLst>
          </a:prstGeom>
          <a:solidFill>
            <a:srgbClr val="F4F7F9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703320" y="263347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“set up my practice”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03320" y="3346704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asks a few questions and sets everything up for you.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560320" cy="2880360"/>
          </a:xfrm>
          <a:prstGeom prst="roundRect">
            <a:avLst>
              <a:gd name="adj" fmla="val 3214"/>
            </a:avLst>
          </a:prstGeom>
          <a:solidFill>
            <a:srgbClr val="F4F7F9"/>
          </a:solidFill>
          <a:ln w="12700">
            <a:solidFill>
              <a:srgbClr val="C8D2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92240" y="263347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client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3346704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folder, answer five questions. Not your whole book, just one.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006840" y="1920240"/>
            <a:ext cx="2560320" cy="2880360"/>
          </a:xfrm>
          <a:prstGeom prst="roundRect">
            <a:avLst>
              <a:gd name="adj" fmla="val 3214"/>
            </a:avLst>
          </a:prstGeom>
          <a:solidFill>
            <a:srgbClr val="E8F5F5"/>
          </a:solidFill>
          <a:ln w="21590">
            <a:solidFill>
              <a:srgbClr val="0FA3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81160" y="263347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for a fortnight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81160" y="3346704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the chasing. Decide whether it earned its place.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193792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0F2033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193792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stays on your computer. If you stop using it, your files are exactly where you left them.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conversation, not a purchase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Health Check is ninety minutes. We walk your actual workflow, find where your hours really go, and you leave with a written roadmap whether or not you go further.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11480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A3145"/>
          </a:solidFill>
          <a:ln w="12700">
            <a:solidFill>
              <a:srgbClr val="2E4A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2793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46817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about how you work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411480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A3145"/>
          </a:solidFill>
          <a:ln w="12700">
            <a:solidFill>
              <a:srgbClr val="2E4A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42793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roadmap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0" y="46817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to keep, whatever you decide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55280" y="411480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1A3145"/>
          </a:solidFill>
          <a:ln w="12700">
            <a:solidFill>
              <a:srgbClr val="2E4A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42793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0" y="46817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 to have the conversation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veritaq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 Accountant in a Box</dc:title>
  <dc:subject>PptxGenJS Presentation</dc:subject>
  <dc:creator>Veritaq</dc:creator>
  <cp:lastModifiedBy>Veritaq</cp:lastModifiedBy>
  <cp:revision>1</cp:revision>
  <dcterms:created xsi:type="dcterms:W3CDTF">2026-08-10T02:05:45Z</dcterms:created>
  <dcterms:modified xsi:type="dcterms:W3CDTF">2026-08-10T02:05:45Z</dcterms:modified>
</cp:coreProperties>
</file>